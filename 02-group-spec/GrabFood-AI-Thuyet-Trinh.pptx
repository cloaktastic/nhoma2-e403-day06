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3" d="100"/>
          <a:sy n="83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844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9294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7641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2826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9338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5916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5480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9847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271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5DC5B3B-D1A8-4904-A510-B1CAC11559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E9C6718-C77A-449F-815A-F57D6E8033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173CF07-9E0C-4621-B52B-5DE7C1953BF2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3499F6F-43E7-4ED6-9A9C-CE842450927A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GRABFOOD AI BALANCED DIET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E8A4C8E-E33D-4FA3-A0C1-A3EACAE74C5C}"/>
              </a:ext>
            </a:extLst>
          </p:cNvPr>
          <p:cNvSpPr>
            <a:spLocks noGrp="1"/>
          </p:cNvSpPr>
          <p:nvPr/>
        </p:nvSpPr>
        <p:spPr>
          <a:xfrm>
            <a:off x="419100" y="1200150"/>
            <a:ext cx="857250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Từ “không biết ăn gì” đến bữa ăn phù hợp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23B027B-8D0D-4794-B166-CBFBB91C790B}"/>
              </a:ext>
            </a:extLst>
          </p:cNvPr>
          <p:cNvSpPr>
            <a:spLocks noGrp="1"/>
          </p:cNvSpPr>
          <p:nvPr/>
        </p:nvSpPr>
        <p:spPr>
          <a:xfrm>
            <a:off x="457200" y="2667000"/>
            <a:ext cx="685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AI agent gợi ý món từ menu thật theo bối cảnh, khẩu vị và mục tiêu dinh dưỡng của user.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4740F05-718D-419A-AF5F-34FAD3EB7FD5}"/>
              </a:ext>
            </a:extLst>
          </p:cNvPr>
          <p:cNvSpPr>
            <a:spLocks noGrp="1"/>
          </p:cNvSpPr>
          <p:nvPr/>
        </p:nvSpPr>
        <p:spPr>
          <a:xfrm>
            <a:off x="495300" y="384810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205D312-0B98-44FA-AB19-5374CC9B2263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609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Track: Food &amp; Local Delivery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223C861-B61D-4FBC-92E0-CEB83ADD4425}"/>
              </a:ext>
            </a:extLst>
          </p:cNvPr>
          <p:cNvSpPr>
            <a:spLocks noGrp="1"/>
          </p:cNvSpPr>
          <p:nvPr/>
        </p:nvSpPr>
        <p:spPr>
          <a:xfrm>
            <a:off x="495300" y="42481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E3120DB-4F55-41D2-9084-DBBBBC8A426B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09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App thật: GrabFood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C9F72FE-4694-4D49-AE93-043EAD0EF7E5}"/>
              </a:ext>
            </a:extLst>
          </p:cNvPr>
          <p:cNvSpPr>
            <a:spLocks noGrp="1"/>
          </p:cNvSpPr>
          <p:nvPr/>
        </p:nvSpPr>
        <p:spPr>
          <a:xfrm>
            <a:off x="495300" y="464820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E33E080-DE61-4828-BC1B-7A433A49EB81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609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Prototype: FastAPI + OpenAI SDK + menu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A319B9B-C2B7-4F24-A699-E62E60F3F1C2}"/>
              </a:ext>
            </a:extLst>
          </p:cNvPr>
          <p:cNvSpPr>
            <a:spLocks noGrp="1"/>
          </p:cNvSpPr>
          <p:nvPr/>
        </p:nvSpPr>
        <p:spPr>
          <a:xfrm>
            <a:off x="495300" y="50482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BE05556-A2A8-46F1-B8CE-66005E79319B}"/>
              </a:ext>
            </a:extLst>
          </p:cNvPr>
          <p:cNvSpPr>
            <a:spLocks noGrp="1"/>
          </p:cNvSpPr>
          <p:nvPr/>
        </p:nvSpPr>
        <p:spPr>
          <a:xfrm>
            <a:off x="666750" y="4972050"/>
            <a:ext cx="609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Demo local: http://localhost:8000 hoặc IP WiFi cùng mạng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6EACBC1-E0E3-4E77-8240-2765512CD41F}"/>
              </a:ext>
            </a:extLst>
          </p:cNvPr>
          <p:cNvSpPr>
            <a:spLocks noGrp="1"/>
          </p:cNvSpPr>
          <p:nvPr/>
        </p:nvSpPr>
        <p:spPr>
          <a:xfrm>
            <a:off x="8191500" y="1371600"/>
            <a:ext cx="2819400" cy="3371850"/>
          </a:xfrm>
          <a:prstGeom prst="rect">
            <a:avLst/>
          </a:prstGeom>
          <a:solidFill>
            <a:srgbClr val="102342"/>
          </a:solidFill>
          <a:ln w="9525">
            <a:solidFill>
              <a:srgbClr val="29415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885AEDF-5F86-4EBE-9F9C-0EF5AC6DC553}"/>
              </a:ext>
            </a:extLst>
          </p:cNvPr>
          <p:cNvSpPr>
            <a:spLocks noGrp="1"/>
          </p:cNvSpPr>
          <p:nvPr/>
        </p:nvSpPr>
        <p:spPr>
          <a:xfrm>
            <a:off x="8572500" y="17526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B1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B14F"/>
                </a:solidFill>
                <a:latin typeface="Aptos"/>
                <a:ea typeface="Aptos"/>
                <a:cs typeface="Aptos"/>
              </a:rPr>
              <a:t>Nhóm A2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736E3E4F-02BF-4EBA-9E07-37EB961EDDB3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190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Nguyễn Đoàn Gia Tuấn</a:t>
            </a:r>
          </a:p>
          <a:p>
            <a:pPr algn="l">
              <a:defRPr sz="150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Phạm Văn Sơn</a:t>
            </a:r>
          </a:p>
          <a:p>
            <a:pPr algn="l">
              <a:defRPr sz="150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Nguyễn Minh Đức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CCCCD7B-6EBF-4AEB-9955-E683541AF1E1}"/>
              </a:ext>
            </a:extLst>
          </p:cNvPr>
          <p:cNvSpPr>
            <a:spLocks noGrp="1"/>
          </p:cNvSpPr>
          <p:nvPr/>
        </p:nvSpPr>
        <p:spPr>
          <a:xfrm>
            <a:off x="8572500" y="3562350"/>
            <a:ext cx="2095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2A202600669</a:t>
            </a:r>
          </a:p>
          <a:p>
            <a:pPr algn="l">
              <a:defRPr sz="1200" b="0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2A202600701</a:t>
            </a:r>
          </a:p>
          <a:p>
            <a:pPr algn="l">
              <a:defRPr sz="1200" b="0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2A202600808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79FAB214-692F-4D60-A207-705A91044C42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1/8</a:t>
            </a:r>
          </a:p>
        </p:txBody>
      </p:sp>
    </p:spTree>
    <p:extLst>
      <p:ext uri="{BB962C8B-B14F-4D97-AF65-F5344CB8AC3E}">
        <p14:creationId xmlns:p14="http://schemas.microsoft.com/office/powerpoint/2010/main" val="156997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F515CC88-BCB0-45BD-BA6C-8AAB0E997C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4C41BDE-C83C-4964-947F-4F65BBCFA2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594F64F-8B76-461C-868F-96262DE998DD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5162773-93A0-41BC-9A5A-2FEF9DD32504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USER CỤ THỂ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272CBBF-C6B0-4C6C-9063-33DBB9251451}"/>
              </a:ext>
            </a:extLst>
          </p:cNvPr>
          <p:cNvSpPr>
            <a:spLocks noGrp="1"/>
          </p:cNvSpPr>
          <p:nvPr/>
        </p:nvSpPr>
        <p:spPr>
          <a:xfrm>
            <a:off x="419100" y="1162050"/>
            <a:ext cx="10287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User không thiếu món ăn; họ thiếu một quyết định bữa ăn đáng tin.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8CBD218-307C-4056-91B3-67461E856853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3143250" cy="2571750"/>
          </a:xfrm>
          <a:prstGeom prst="rect">
            <a:avLst/>
          </a:prstGeom>
          <a:solidFill>
            <a:srgbClr val="102847"/>
          </a:solidFill>
          <a:ln w="9525">
            <a:solidFill>
              <a:srgbClr val="00B1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39778C4-5A9C-49C1-B125-3589233C8E0C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AI LÀ USER?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35D8F76-9A4D-4469-BCDB-3A0FC7AD55F6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25527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Nhân viên văn phòng hoặc sinh viên bận rộn, mở GrabFood vào giờ trưa/chiều và không biết nên ăn gì.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C88787E-B090-46BD-ABA4-9848BE4CBA4D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2533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Họ muốn nhanh, no, hợp khẩu vị và không phá chế độ ăn.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76F9A7F-08ED-42CF-BB20-985AEDA5B817}"/>
              </a:ext>
            </a:extLst>
          </p:cNvPr>
          <p:cNvSpPr>
            <a:spLocks noGrp="1"/>
          </p:cNvSpPr>
          <p:nvPr/>
        </p:nvSpPr>
        <p:spPr>
          <a:xfrm>
            <a:off x="4514850" y="2647950"/>
            <a:ext cx="3143250" cy="2571750"/>
          </a:xfrm>
          <a:prstGeom prst="rect">
            <a:avLst/>
          </a:prstGeom>
          <a:solidFill>
            <a:srgbClr val="102847"/>
          </a:solidFill>
          <a:ln w="9525">
            <a:solidFill>
              <a:srgbClr val="79A9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0DBEFD8-622F-440C-9ED3-9AD86ABE839D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BỐI CẢNH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DB5797D-3111-44EE-93B5-C1DB8DB1659A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4765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User không bắt đầu bằng tên món rõ ràng. Họ thường nói: “ăn gì nhẹ bụng?”, “nhiều đạm”, “keto”, “món nào no lâu?”.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0282D8F-E598-46F5-936B-98F332F4607A}"/>
              </a:ext>
            </a:extLst>
          </p:cNvPr>
          <p:cNvSpPr>
            <a:spLocks noGrp="1"/>
          </p:cNvSpPr>
          <p:nvPr/>
        </p:nvSpPr>
        <p:spPr>
          <a:xfrm>
            <a:off x="8362950" y="2647950"/>
            <a:ext cx="3143250" cy="2571750"/>
          </a:xfrm>
          <a:prstGeom prst="rect">
            <a:avLst/>
          </a:prstGeom>
          <a:solidFill>
            <a:srgbClr val="102847"/>
          </a:solidFill>
          <a:ln w="9525">
            <a:solidFill>
              <a:srgbClr val="FFB84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FF927B1F-7178-4D60-8480-E22C0E59A448}"/>
              </a:ext>
            </a:extLst>
          </p:cNvPr>
          <p:cNvSpPr>
            <a:spLocks noGrp="1"/>
          </p:cNvSpPr>
          <p:nvPr/>
        </p:nvSpPr>
        <p:spPr>
          <a:xfrm>
            <a:off x="8610600" y="29146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QUYẾT ĐỊNH CẦN AI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2A07C19-BA26-4C80-999A-5221D233AB65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400050" cy="400050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BF5CBA8-4106-49DA-B700-BC493C91426B}"/>
              </a:ext>
            </a:extLst>
          </p:cNvPr>
          <p:cNvSpPr>
            <a:spLocks noGrp="1"/>
          </p:cNvSpPr>
          <p:nvPr/>
        </p:nvSpPr>
        <p:spPr>
          <a:xfrm>
            <a:off x="8610600" y="34290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C83FFAD-0ADC-49AD-AFB6-AC87D919165F}"/>
              </a:ext>
            </a:extLst>
          </p:cNvPr>
          <p:cNvSpPr>
            <a:spLocks noGrp="1"/>
          </p:cNvSpPr>
          <p:nvPr/>
        </p:nvSpPr>
        <p:spPr>
          <a:xfrm>
            <a:off x="9124950" y="34099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4E8"/>
                </a:solidFill>
                <a:latin typeface="Aptos"/>
                <a:ea typeface="Aptos"/>
                <a:cs typeface="Aptos"/>
              </a:rPr>
              <a:t>Hiểu nhu cầu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BADFAFA-FBFB-47BB-8979-2F8035DD957C}"/>
              </a:ext>
            </a:extLst>
          </p:cNvPr>
          <p:cNvSpPr>
            <a:spLocks noGrp="1"/>
          </p:cNvSpPr>
          <p:nvPr/>
        </p:nvSpPr>
        <p:spPr>
          <a:xfrm>
            <a:off x="8610600" y="3962400"/>
            <a:ext cx="400050" cy="40005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699AA67-28E6-4811-A7AB-F4095B09534D}"/>
              </a:ext>
            </a:extLst>
          </p:cNvPr>
          <p:cNvSpPr>
            <a:spLocks noGrp="1"/>
          </p:cNvSpPr>
          <p:nvPr/>
        </p:nvSpPr>
        <p:spPr>
          <a:xfrm>
            <a:off x="8610600" y="40195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D69A00C5-A1C2-4DBA-9874-527279902DB6}"/>
              </a:ext>
            </a:extLst>
          </p:cNvPr>
          <p:cNvSpPr>
            <a:spLocks noGrp="1"/>
          </p:cNvSpPr>
          <p:nvPr/>
        </p:nvSpPr>
        <p:spPr>
          <a:xfrm>
            <a:off x="9124950" y="40005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4E8"/>
                </a:solidFill>
                <a:latin typeface="Aptos"/>
                <a:ea typeface="Aptos"/>
                <a:cs typeface="Aptos"/>
              </a:rPr>
              <a:t>Đọc menu thật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6BD98FC-6A77-4027-BE3B-75BE787AE562}"/>
              </a:ext>
            </a:extLst>
          </p:cNvPr>
          <p:cNvSpPr>
            <a:spLocks noGrp="1"/>
          </p:cNvSpPr>
          <p:nvPr/>
        </p:nvSpPr>
        <p:spPr>
          <a:xfrm>
            <a:off x="8610600" y="4552950"/>
            <a:ext cx="400050" cy="40005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EB2CC9F-A833-4DB5-AACD-2F0BA2157258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616F9CE0-E0BB-495E-B33A-9B68F4F3E0CF}"/>
              </a:ext>
            </a:extLst>
          </p:cNvPr>
          <p:cNvSpPr>
            <a:spLocks noGrp="1"/>
          </p:cNvSpPr>
          <p:nvPr/>
        </p:nvSpPr>
        <p:spPr>
          <a:xfrm>
            <a:off x="9124950" y="45910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4E8"/>
                </a:solidFill>
                <a:latin typeface="Aptos"/>
                <a:ea typeface="Aptos"/>
                <a:cs typeface="Aptos"/>
              </a:rPr>
              <a:t>Gợi ý món phù hợp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EE21E2BD-89FF-4376-AE86-E859F930679C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2/8</a:t>
            </a:r>
          </a:p>
        </p:txBody>
      </p:sp>
    </p:spTree>
    <p:extLst>
      <p:ext uri="{BB962C8B-B14F-4D97-AF65-F5344CB8AC3E}">
        <p14:creationId xmlns:p14="http://schemas.microsoft.com/office/powerpoint/2010/main" val="101828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E3BC1566-D0B0-494F-892A-6A9110729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1F30592-2632-4867-AFF3-4F2306D0BD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20C17A8-D2B6-4720-826C-966AE067719B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5C873F1-B5D5-4E8B-A8AA-8AF614CE5651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PAINPOINT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632787A-A160-44FF-8E29-E555C780148E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0287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Pain chính: user mất thời gian chọn món nhưng vẫn không chắc bữa ăn có cân bằng.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E45D388-363A-4A1E-8C09-104A90CC72D0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3314700" cy="3028950"/>
          </a:xfrm>
          <a:prstGeom prst="rect">
            <a:avLst/>
          </a:prstGeom>
          <a:solidFill>
            <a:srgbClr val="0F2544"/>
          </a:solidFill>
          <a:ln w="9525">
            <a:solidFill>
              <a:srgbClr val="29415F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34764" b="34764"/>
          <a:stretch>
            <a:fillRect/>
          </a:stretch>
        </p:blipFill>
        <p:spPr>
          <a:xfrm>
            <a:off x="723900" y="2686050"/>
            <a:ext cx="2895600" cy="196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01EF9D0-F5D9-43F8-B4A1-1E74EADF5B79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QUAN SÁT TỪ MENU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A3FBBE8-4540-4E49-8722-1F41CCE8F9C2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Menu có nhiều món đơn lẻ, ít hỗ trợ ghép thành bữa ăn đủ chất.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6558F20-9F29-4168-8CCF-4932A005577D}"/>
              </a:ext>
            </a:extLst>
          </p:cNvPr>
          <p:cNvSpPr>
            <a:spLocks noGrp="1"/>
          </p:cNvSpPr>
          <p:nvPr/>
        </p:nvSpPr>
        <p:spPr>
          <a:xfrm>
            <a:off x="4267200" y="2476500"/>
            <a:ext cx="3314700" cy="3028950"/>
          </a:xfrm>
          <a:prstGeom prst="rect">
            <a:avLst/>
          </a:prstGeom>
          <a:solidFill>
            <a:srgbClr val="0F2544"/>
          </a:solidFill>
          <a:ln w="9525">
            <a:solidFill>
              <a:srgbClr val="29415F"/>
            </a:solidFill>
            <a:prstDash val="solid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2043" r="2043"/>
          <a:stretch>
            <a:fillRect/>
          </a:stretch>
        </p:blipFill>
        <p:spPr>
          <a:xfrm>
            <a:off x="4476750" y="2686050"/>
            <a:ext cx="2895600" cy="990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8B3DE9D-31E3-46FB-B5E1-22D53F80FF87}"/>
              </a:ext>
            </a:extLst>
          </p:cNvPr>
          <p:cNvSpPr>
            <a:spLocks noGrp="1"/>
          </p:cNvSpPr>
          <p:nvPr/>
        </p:nvSpPr>
        <p:spPr>
          <a:xfrm>
            <a:off x="4476750" y="39814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PAIN TỪ FEEDBACK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BF51D48-618F-49BA-99BE-32E081D2BB8C}"/>
              </a:ext>
            </a:extLst>
          </p:cNvPr>
          <p:cNvSpPr>
            <a:spLocks noGrp="1"/>
          </p:cNvSpPr>
          <p:nvPr/>
        </p:nvSpPr>
        <p:spPr>
          <a:xfrm>
            <a:off x="4476750" y="4286250"/>
            <a:ext cx="26860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User phàn nàn gợi ý chưa đúng ý, tìm món mất thời gian, thiếu ngữ cảnh cá nhân.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EBFC129-242F-4A7E-8515-EAA02A5F6410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3314700" cy="3028950"/>
          </a:xfrm>
          <a:prstGeom prst="rect">
            <a:avLst/>
          </a:prstGeom>
          <a:solidFill>
            <a:srgbClr val="123353"/>
          </a:solidFill>
          <a:ln w="9525">
            <a:solidFill>
              <a:srgbClr val="FFB84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9954D4E-7E77-4696-AE2A-7C1A27804F2A}"/>
              </a:ext>
            </a:extLst>
          </p:cNvPr>
          <p:cNvSpPr>
            <a:spLocks noGrp="1"/>
          </p:cNvSpPr>
          <p:nvPr/>
        </p:nvSpPr>
        <p:spPr>
          <a:xfrm>
            <a:off x="8305800" y="27813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3 VẾT ĐAU CẦN GIẢI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059DADE2-A8E8-4CE8-855F-1EC1F1D8FEEC}"/>
              </a:ext>
            </a:extLst>
          </p:cNvPr>
          <p:cNvSpPr>
            <a:spLocks noGrp="1"/>
          </p:cNvSpPr>
          <p:nvPr/>
        </p:nvSpPr>
        <p:spPr>
          <a:xfrm>
            <a:off x="8343900" y="33337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CFBA22A-422E-4571-8D55-0D8878AF99FD}"/>
              </a:ext>
            </a:extLst>
          </p:cNvPr>
          <p:cNvSpPr>
            <a:spLocks noGrp="1"/>
          </p:cNvSpPr>
          <p:nvPr/>
        </p:nvSpPr>
        <p:spPr>
          <a:xfrm>
            <a:off x="8515350" y="3257550"/>
            <a:ext cx="253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Không biết nên ăn món gì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67863ED-E23E-41FC-BA78-3CAD3644E58A}"/>
              </a:ext>
            </a:extLst>
          </p:cNvPr>
          <p:cNvSpPr>
            <a:spLocks noGrp="1"/>
          </p:cNvSpPr>
          <p:nvPr/>
        </p:nvSpPr>
        <p:spPr>
          <a:xfrm>
            <a:off x="8343900" y="384810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EC549EA-53AE-473A-B81D-DD704CCFF4F8}"/>
              </a:ext>
            </a:extLst>
          </p:cNvPr>
          <p:cNvSpPr>
            <a:spLocks noGrp="1"/>
          </p:cNvSpPr>
          <p:nvPr/>
        </p:nvSpPr>
        <p:spPr>
          <a:xfrm>
            <a:off x="8515350" y="3771900"/>
            <a:ext cx="253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Không thấy rõ calo / protein / carb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67DB834D-CDD7-4E9D-ABC7-EE1BC783AD59}"/>
              </a:ext>
            </a:extLst>
          </p:cNvPr>
          <p:cNvSpPr>
            <a:spLocks noGrp="1"/>
          </p:cNvSpPr>
          <p:nvPr/>
        </p:nvSpPr>
        <p:spPr>
          <a:xfrm>
            <a:off x="8343900" y="43624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88A3D02C-4CB0-4D2C-AFE7-DCC62EA5EC26}"/>
              </a:ext>
            </a:extLst>
          </p:cNvPr>
          <p:cNvSpPr>
            <a:spLocks noGrp="1"/>
          </p:cNvSpPr>
          <p:nvPr/>
        </p:nvSpPr>
        <p:spPr>
          <a:xfrm>
            <a:off x="8515350" y="4286250"/>
            <a:ext cx="253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Không có cảnh báo khi món rủi ro với chế độ ăn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1D1D432-AA32-4302-A3B0-5AD9A2C2F6E0}"/>
              </a:ext>
            </a:extLst>
          </p:cNvPr>
          <p:cNvSpPr>
            <a:spLocks noGrp="1"/>
          </p:cNvSpPr>
          <p:nvPr/>
        </p:nvSpPr>
        <p:spPr>
          <a:xfrm>
            <a:off x="8343900" y="5010150"/>
            <a:ext cx="247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6B6B"/>
                </a:solidFill>
                <a:latin typeface="Aptos"/>
                <a:ea typeface="Aptos"/>
                <a:cs typeface="Aptos"/>
              </a:rPr>
              <a:t>Nếu AI chỉ trả lời “món này hợp” mà không cảnh báo thành phần ẩn, demo sẽ thiếu failure path.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6FE3476F-C856-4AAB-835C-92AFF8C0688F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3/8</a:t>
            </a:r>
          </a:p>
        </p:txBody>
      </p:sp>
    </p:spTree>
    <p:extLst>
      <p:ext uri="{BB962C8B-B14F-4D97-AF65-F5344CB8AC3E}">
        <p14:creationId xmlns:p14="http://schemas.microsoft.com/office/powerpoint/2010/main" val="86522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22173FA4-A91F-4591-9BC8-42A3BE6E44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9604149-2CE3-4D2C-908A-837F250EDA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87B8BB7-B90C-4308-AF03-5907BB874666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CCF17BB-7ECD-4D1D-A059-4DE871922821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INSIGHT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4B210A7-F70D-4E9F-94FD-93F945004F50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10287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Cơ hội sản phẩm: chuyển từ search theo từ khóa sang agent hiểu ý định ăn uống.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E1C048-E591-4A11-90F4-E6846D04E5E6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2209800" cy="2190750"/>
          </a:xfrm>
          <a:prstGeom prst="rect">
            <a:avLst/>
          </a:prstGeom>
          <a:solidFill>
            <a:srgbClr val="102847"/>
          </a:solidFill>
          <a:ln w="9525">
            <a:solidFill>
              <a:srgbClr val="29415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F6B79EB-1028-459A-81FF-D71C1FA098CF}"/>
              </a:ext>
            </a:extLst>
          </p:cNvPr>
          <p:cNvSpPr>
            <a:spLocks noGrp="1"/>
          </p:cNvSpPr>
          <p:nvPr/>
        </p:nvSpPr>
        <p:spPr>
          <a:xfrm>
            <a:off x="1009650" y="2990850"/>
            <a:ext cx="400050" cy="40005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50715FE-A29D-4854-AF2B-9C349F7A01D9}"/>
              </a:ext>
            </a:extLst>
          </p:cNvPr>
          <p:cNvSpPr>
            <a:spLocks noGrp="1"/>
          </p:cNvSpPr>
          <p:nvPr/>
        </p:nvSpPr>
        <p:spPr>
          <a:xfrm>
            <a:off x="1009650" y="30480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DD9EF16-9C84-4A4A-9FED-0BF58CE11B0F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USER NÓI BẰNG NGÔN NGỮ TỰ NHIÊN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B381608-C941-4184-AD44-7B07A6BBFFDF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1695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“Tôi muốn ăn keto, tránh sốt/đường ẩn”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79AE1E7-1FE7-4A8C-B4B1-F0948293E204}"/>
              </a:ext>
            </a:extLst>
          </p:cNvPr>
          <p:cNvSpPr>
            <a:spLocks noGrp="1"/>
          </p:cNvSpPr>
          <p:nvPr/>
        </p:nvSpPr>
        <p:spPr>
          <a:xfrm>
            <a:off x="3505200" y="2724150"/>
            <a:ext cx="2209800" cy="2190750"/>
          </a:xfrm>
          <a:prstGeom prst="rect">
            <a:avLst/>
          </a:prstGeom>
          <a:solidFill>
            <a:srgbClr val="102847"/>
          </a:solidFill>
          <a:ln w="9525">
            <a:solidFill>
              <a:srgbClr val="29415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B21EEDD-D6E3-4DE7-9058-9856E199F53D}"/>
              </a:ext>
            </a:extLst>
          </p:cNvPr>
          <p:cNvSpPr>
            <a:spLocks noGrp="1"/>
          </p:cNvSpPr>
          <p:nvPr/>
        </p:nvSpPr>
        <p:spPr>
          <a:xfrm>
            <a:off x="3714750" y="2990850"/>
            <a:ext cx="400050" cy="40005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756F2B7-473C-42E4-A90A-09735537DA9A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C7A7BB5-B35A-4F40-9C79-842DD55DE7E4}"/>
              </a:ext>
            </a:extLst>
          </p:cNvPr>
          <p:cNvSpPr>
            <a:spLocks noGrp="1"/>
          </p:cNvSpPr>
          <p:nvPr/>
        </p:nvSpPr>
        <p:spPr>
          <a:xfrm>
            <a:off x="3714750" y="35814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AI ĐỐI CHIẾU MENU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B05FF89-8E53-4B2A-B9FC-C9B4D55D8996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1695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Chỉ chọn món/quán có trong all_stores.json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1CC4252-E159-4F38-8F8F-70566843EE9A}"/>
              </a:ext>
            </a:extLst>
          </p:cNvPr>
          <p:cNvSpPr>
            <a:spLocks noGrp="1"/>
          </p:cNvSpPr>
          <p:nvPr/>
        </p:nvSpPr>
        <p:spPr>
          <a:xfrm>
            <a:off x="6210300" y="2724150"/>
            <a:ext cx="2209800" cy="2190750"/>
          </a:xfrm>
          <a:prstGeom prst="rect">
            <a:avLst/>
          </a:prstGeom>
          <a:solidFill>
            <a:srgbClr val="102847"/>
          </a:solidFill>
          <a:ln w="9525">
            <a:solidFill>
              <a:srgbClr val="29415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455DF169-E840-4883-8FD9-BBD6712CE77A}"/>
              </a:ext>
            </a:extLst>
          </p:cNvPr>
          <p:cNvSpPr>
            <a:spLocks noGrp="1"/>
          </p:cNvSpPr>
          <p:nvPr/>
        </p:nvSpPr>
        <p:spPr>
          <a:xfrm>
            <a:off x="6419850" y="2990850"/>
            <a:ext cx="400050" cy="40005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529D5AF-E4C8-4782-879F-6A45361F74A1}"/>
              </a:ext>
            </a:extLst>
          </p:cNvPr>
          <p:cNvSpPr>
            <a:spLocks noGrp="1"/>
          </p:cNvSpPr>
          <p:nvPr/>
        </p:nvSpPr>
        <p:spPr>
          <a:xfrm>
            <a:off x="6419850" y="30480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17DB977F-1CCD-44DF-A48B-04467A5D75D8}"/>
              </a:ext>
            </a:extLst>
          </p:cNvPr>
          <p:cNvSpPr>
            <a:spLocks noGrp="1"/>
          </p:cNvSpPr>
          <p:nvPr/>
        </p:nvSpPr>
        <p:spPr>
          <a:xfrm>
            <a:off x="6419850" y="35814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AI GIẢI THÍCH NGẮN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F201F60A-E1E6-4083-889D-8D6A1CEFFBC6}"/>
              </a:ext>
            </a:extLst>
          </p:cNvPr>
          <p:cNvSpPr>
            <a:spLocks noGrp="1"/>
          </p:cNvSpPr>
          <p:nvPr/>
        </p:nvSpPr>
        <p:spPr>
          <a:xfrm>
            <a:off x="6419850" y="4038600"/>
            <a:ext cx="1695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Tên món, quán, ảnh, phân tích dinh dưỡng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A1607E-930C-4A7F-B2FA-F297D8BB734C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209800" cy="2190750"/>
          </a:xfrm>
          <a:prstGeom prst="rect">
            <a:avLst/>
          </a:prstGeom>
          <a:solidFill>
            <a:srgbClr val="102847"/>
          </a:solidFill>
          <a:ln w="9525">
            <a:solidFill>
              <a:srgbClr val="00B1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3951322B-66D9-46DD-80B0-564C7D6BB0A1}"/>
              </a:ext>
            </a:extLst>
          </p:cNvPr>
          <p:cNvSpPr>
            <a:spLocks noGrp="1"/>
          </p:cNvSpPr>
          <p:nvPr/>
        </p:nvSpPr>
        <p:spPr>
          <a:xfrm>
            <a:off x="9124950" y="2990850"/>
            <a:ext cx="400050" cy="400050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F112F8D1-E3DB-4F7C-ACF7-3404AA29D895}"/>
              </a:ext>
            </a:extLst>
          </p:cNvPr>
          <p:cNvSpPr>
            <a:spLocks noGrp="1"/>
          </p:cNvSpPr>
          <p:nvPr/>
        </p:nvSpPr>
        <p:spPr>
          <a:xfrm>
            <a:off x="9124950" y="30480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193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CE6C4F1E-97DA-4E4D-8FAA-EF4418A3DD8F}"/>
              </a:ext>
            </a:extLst>
          </p:cNvPr>
          <p:cNvSpPr>
            <a:spLocks noGrp="1"/>
          </p:cNvSpPr>
          <p:nvPr/>
        </p:nvSpPr>
        <p:spPr>
          <a:xfrm>
            <a:off x="9124950" y="35814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USER KIỂM SOÁT QUYẾT ĐỊNH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B964CD2B-1519-4D4D-820E-8FA05FE2A902}"/>
              </a:ext>
            </a:extLst>
          </p:cNvPr>
          <p:cNvSpPr>
            <a:spLocks noGrp="1"/>
          </p:cNvSpPr>
          <p:nvPr/>
        </p:nvSpPr>
        <p:spPr>
          <a:xfrm>
            <a:off x="9124950" y="4038600"/>
            <a:ext cx="1695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Có thể yêu cầu đổi món, sửa tiêu chí, hoặc đi đến quán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AAF023B4-EA6B-496C-85BD-128B6AF86906}"/>
              </a:ext>
            </a:extLst>
          </p:cNvPr>
          <p:cNvSpPr>
            <a:spLocks noGrp="1"/>
          </p:cNvSpPr>
          <p:nvPr/>
        </p:nvSpPr>
        <p:spPr>
          <a:xfrm>
            <a:off x="1562100" y="5391150"/>
            <a:ext cx="8382000" cy="552450"/>
          </a:xfrm>
          <a:prstGeom prst="rect">
            <a:avLst/>
          </a:prstGeom>
          <a:solidFill>
            <a:srgbClr val="123353"/>
          </a:solidFill>
          <a:ln w="9525">
            <a:solidFill>
              <a:srgbClr val="00B14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7344FC69-8188-483C-920B-ED2AC288BAB5}"/>
              </a:ext>
            </a:extLst>
          </p:cNvPr>
          <p:cNvSpPr>
            <a:spLocks noGrp="1"/>
          </p:cNvSpPr>
          <p:nvPr/>
        </p:nvSpPr>
        <p:spPr>
          <a:xfrm>
            <a:off x="1885950" y="5562600"/>
            <a:ext cx="771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Định hướng: AI tăng năng lực ra quyết định; chỉ tự động điều hướng/thêm món sau khi user đã chấp nhận.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BC65CF85-D279-46E0-B5A6-758F03C4A4C4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4/8</a:t>
            </a:r>
          </a:p>
        </p:txBody>
      </p:sp>
    </p:spTree>
    <p:extLst>
      <p:ext uri="{BB962C8B-B14F-4D97-AF65-F5344CB8AC3E}">
        <p14:creationId xmlns:p14="http://schemas.microsoft.com/office/powerpoint/2010/main" val="212457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99414536-DBDB-48F7-8E6D-8A9A6C759E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DD29F0E-9DE2-457F-83E7-62B7FC02DB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EC042C0-AA8A-4AC8-B206-EF7C817599E8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F6D35F6-411E-444C-82A6-BBC3984BDB52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GIẢI PHÁP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2008439-80C0-41A5-A0A6-85F25AB8BED7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0287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Prototype mô phỏng một lớp AI ngay trong trải nghiệm GrabFood.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9CFF386-9F21-4851-97A9-0B14AB2E80F0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4429125" cy="3352800"/>
          </a:xfrm>
          <a:prstGeom prst="rect">
            <a:avLst/>
          </a:prstGeom>
          <a:solidFill>
            <a:srgbClr val="0F2544"/>
          </a:solidFill>
          <a:ln w="9525">
            <a:solidFill>
              <a:srgbClr val="29415F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1204" y="2647950"/>
            <a:ext cx="3891643" cy="2724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3163EDC-B5F2-475D-8FCC-2DDE0F3DDF60}"/>
              </a:ext>
            </a:extLst>
          </p:cNvPr>
          <p:cNvSpPr>
            <a:spLocks noGrp="1"/>
          </p:cNvSpPr>
          <p:nvPr/>
        </p:nvSpPr>
        <p:spPr>
          <a:xfrm>
            <a:off x="5753100" y="2381250"/>
            <a:ext cx="4953000" cy="3352800"/>
          </a:xfrm>
          <a:prstGeom prst="rect">
            <a:avLst/>
          </a:prstGeom>
          <a:solidFill>
            <a:srgbClr val="123353"/>
          </a:solidFill>
          <a:ln w="9525">
            <a:solidFill>
              <a:srgbClr val="29415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052FB1F-E4E4-44E9-816D-633E9E885BE4}"/>
              </a:ext>
            </a:extLst>
          </p:cNvPr>
          <p:cNvSpPr>
            <a:spLocks noGrp="1"/>
          </p:cNvSpPr>
          <p:nvPr/>
        </p:nvSpPr>
        <p:spPr>
          <a:xfrm>
            <a:off x="6038850" y="2686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TÍNH NĂNG LÕI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A163259-9390-462D-8F82-9522FE71DB45}"/>
              </a:ext>
            </a:extLst>
          </p:cNvPr>
          <p:cNvSpPr>
            <a:spLocks noGrp="1"/>
          </p:cNvSpPr>
          <p:nvPr/>
        </p:nvSpPr>
        <p:spPr>
          <a:xfrm>
            <a:off x="6076950" y="31813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CD0AE10-24AE-4901-8C22-ACDBB9273F1B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Chatbot nổi trong giao diện GrabFood mobile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291B374-DDC8-41C6-A126-4B1173EC5E1E}"/>
              </a:ext>
            </a:extLst>
          </p:cNvPr>
          <p:cNvSpPr>
            <a:spLocks noGrp="1"/>
          </p:cNvSpPr>
          <p:nvPr/>
        </p:nvSpPr>
        <p:spPr>
          <a:xfrm>
            <a:off x="6076950" y="358140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48A4299-07B0-4A1A-BFA7-2853224D8DC0}"/>
              </a:ext>
            </a:extLst>
          </p:cNvPr>
          <p:cNvSpPr>
            <a:spLocks noGrp="1"/>
          </p:cNvSpPr>
          <p:nvPr/>
        </p:nvSpPr>
        <p:spPr>
          <a:xfrm>
            <a:off x="6248400" y="35052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Quick actions cho nhu cầu phổ biến: giảm cân, nhiều đạm, keto, no lâu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13BF9F21-72A6-41D7-B51C-64A0445CDCCD}"/>
              </a:ext>
            </a:extLst>
          </p:cNvPr>
          <p:cNvSpPr>
            <a:spLocks noGrp="1"/>
          </p:cNvSpPr>
          <p:nvPr/>
        </p:nvSpPr>
        <p:spPr>
          <a:xfrm>
            <a:off x="6076950" y="39814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D6C5B52-6D4E-4251-873C-1CE499E2F0D8}"/>
              </a:ext>
            </a:extLst>
          </p:cNvPr>
          <p:cNvSpPr>
            <a:spLocks noGrp="1"/>
          </p:cNvSpPr>
          <p:nvPr/>
        </p:nvSpPr>
        <p:spPr>
          <a:xfrm>
            <a:off x="6248400" y="39052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LLM đọc menu thật và trả về thẻ món ăn có ảnh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15E23A3F-F9D6-4A35-BC97-43EDE452C489}"/>
              </a:ext>
            </a:extLst>
          </p:cNvPr>
          <p:cNvSpPr>
            <a:spLocks noGrp="1"/>
          </p:cNvSpPr>
          <p:nvPr/>
        </p:nvSpPr>
        <p:spPr>
          <a:xfrm>
            <a:off x="6076950" y="438150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890B29B6-0539-4E82-8837-0317E864302C}"/>
              </a:ext>
            </a:extLst>
          </p:cNvPr>
          <p:cNvSpPr>
            <a:spLocks noGrp="1"/>
          </p:cNvSpPr>
          <p:nvPr/>
        </p:nvSpPr>
        <p:spPr>
          <a:xfrm>
            <a:off x="6248400" y="43053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Mỗi gợi ý có phân tích ngắn thay vì mô tả dài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5C41DD6-6B50-47A1-A4B1-E91B49D4B19D}"/>
              </a:ext>
            </a:extLst>
          </p:cNvPr>
          <p:cNvSpPr>
            <a:spLocks noGrp="1"/>
          </p:cNvSpPr>
          <p:nvPr/>
        </p:nvSpPr>
        <p:spPr>
          <a:xfrm>
            <a:off x="6076950" y="47815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5FE311F-3124-46DE-B431-30FA4B61B18A}"/>
              </a:ext>
            </a:extLst>
          </p:cNvPr>
          <p:cNvSpPr>
            <a:spLocks noGrp="1"/>
          </p:cNvSpPr>
          <p:nvPr/>
        </p:nvSpPr>
        <p:spPr>
          <a:xfrm>
            <a:off x="6248400" y="47053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Nút “Đến quán ngay” mô phỏng bước handoff sang đặt món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9B452136-D4FC-4BE2-B212-AD091337098E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5/8</a:t>
            </a:r>
          </a:p>
        </p:txBody>
      </p:sp>
    </p:spTree>
    <p:extLst>
      <p:ext uri="{BB962C8B-B14F-4D97-AF65-F5344CB8AC3E}">
        <p14:creationId xmlns:p14="http://schemas.microsoft.com/office/powerpoint/2010/main" val="62279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46B85DF-424E-4E66-A25C-A354329971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C2F4CCA-3BC4-4530-A4FF-E80B82581E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42F9CC4-BF41-4C62-BAC8-1EEBCA35530A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D708098-6B5F-43F7-8835-2E3750C16340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CANVAS QUYẾT ĐỊNH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613D4A3-B8BD-4E36-A3B0-B14FC721697C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0287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Những quyết định sản phẩm giữ AI ở đúng mức: hỗ trợ trước, tự động sau khi được duyệt.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AD8F7BF-048B-4332-A161-9F29DC45E8A3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4876800" cy="1409700"/>
          </a:xfrm>
          <a:prstGeom prst="rect">
            <a:avLst/>
          </a:prstGeom>
          <a:solidFill>
            <a:srgbClr val="123353"/>
          </a:solidFill>
          <a:ln w="9525">
            <a:solidFill>
              <a:srgbClr val="00B1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774EB65-9729-40FF-A545-2853527387CC}"/>
              </a:ext>
            </a:extLst>
          </p:cNvPr>
          <p:cNvSpPr>
            <a:spLocks noGrp="1"/>
          </p:cNvSpPr>
          <p:nvPr/>
        </p:nvSpPr>
        <p:spPr>
          <a:xfrm>
            <a:off x="971550" y="2933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7E8CB87-A53F-419F-9A1C-7FE51D4E2E4D}"/>
              </a:ext>
            </a:extLst>
          </p:cNvPr>
          <p:cNvSpPr>
            <a:spLocks noGrp="1"/>
          </p:cNvSpPr>
          <p:nvPr/>
        </p:nvSpPr>
        <p:spPr>
          <a:xfrm>
            <a:off x="971550" y="3276600"/>
            <a:ext cx="4286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Giúp user chốt món nhanh hơn mà vẫn bám mục tiêu calo, protein, khẩu vị và bối cảnh bữa ăn.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221DC3C-9215-441A-BFE6-AC314E57498F}"/>
              </a:ext>
            </a:extLst>
          </p:cNvPr>
          <p:cNvSpPr>
            <a:spLocks noGrp="1"/>
          </p:cNvSpPr>
          <p:nvPr/>
        </p:nvSpPr>
        <p:spPr>
          <a:xfrm>
            <a:off x="6362700" y="2724150"/>
            <a:ext cx="4876800" cy="1409700"/>
          </a:xfrm>
          <a:prstGeom prst="rect">
            <a:avLst/>
          </a:prstGeom>
          <a:solidFill>
            <a:srgbClr val="102847"/>
          </a:solidFill>
          <a:ln w="9525">
            <a:solidFill>
              <a:srgbClr val="79A9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EF4B747-5F4B-4789-BE83-3DACE1D5A26D}"/>
              </a:ext>
            </a:extLst>
          </p:cNvPr>
          <p:cNvSpPr>
            <a:spLocks noGrp="1"/>
          </p:cNvSpPr>
          <p:nvPr/>
        </p:nvSpPr>
        <p:spPr>
          <a:xfrm>
            <a:off x="6591300" y="2933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TRUST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9C6F683-13ED-4107-AF4C-0679C7C4C539}"/>
              </a:ext>
            </a:extLst>
          </p:cNvPr>
          <p:cNvSpPr>
            <a:spLocks noGrp="1"/>
          </p:cNvSpPr>
          <p:nvPr/>
        </p:nvSpPr>
        <p:spPr>
          <a:xfrm>
            <a:off x="6591300" y="3276600"/>
            <a:ext cx="4286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Khi AI không chắc, hiển thị cảnh báo, cho user sửa tiêu chí hoặc yêu cầu gợi ý khác.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D434817-91A2-4F20-B0BB-D5349C6880EE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4876800" cy="1409700"/>
          </a:xfrm>
          <a:prstGeom prst="rect">
            <a:avLst/>
          </a:prstGeom>
          <a:solidFill>
            <a:srgbClr val="102847"/>
          </a:solidFill>
          <a:ln w="9525">
            <a:solidFill>
              <a:srgbClr val="FFB84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5801D3A-F854-44BF-9944-354CA954374B}"/>
              </a:ext>
            </a:extLst>
          </p:cNvPr>
          <p:cNvSpPr>
            <a:spLocks noGrp="1"/>
          </p:cNvSpPr>
          <p:nvPr/>
        </p:nvSpPr>
        <p:spPr>
          <a:xfrm>
            <a:off x="971550" y="4914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FEASIBILITY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797BBEF-AE8A-4242-98C9-26770C4820BE}"/>
              </a:ext>
            </a:extLst>
          </p:cNvPr>
          <p:cNvSpPr>
            <a:spLocks noGrp="1"/>
          </p:cNvSpPr>
          <p:nvPr/>
        </p:nvSpPr>
        <p:spPr>
          <a:xfrm>
            <a:off x="971550" y="5257800"/>
            <a:ext cx="4286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Dữ liệu menu đã có trong JSON; backend FastAPI gọi LLMProvider qua OpenAI SDK.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FE39EDC-5E86-4C44-967E-B658A275B5EA}"/>
              </a:ext>
            </a:extLst>
          </p:cNvPr>
          <p:cNvSpPr>
            <a:spLocks noGrp="1"/>
          </p:cNvSpPr>
          <p:nvPr/>
        </p:nvSpPr>
        <p:spPr>
          <a:xfrm>
            <a:off x="6362700" y="4705350"/>
            <a:ext cx="4876800" cy="1409700"/>
          </a:xfrm>
          <a:prstGeom prst="rect">
            <a:avLst/>
          </a:prstGeom>
          <a:solidFill>
            <a:srgbClr val="102847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177CA01-B06D-43A4-B093-E9B20973F734}"/>
              </a:ext>
            </a:extLst>
          </p:cNvPr>
          <p:cNvSpPr>
            <a:spLocks noGrp="1"/>
          </p:cNvSpPr>
          <p:nvPr/>
        </p:nvSpPr>
        <p:spPr>
          <a:xfrm>
            <a:off x="6591300" y="4914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LEARNING SIGNAL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3062F76-096F-41E1-9FAB-B9C7AD31C40B}"/>
              </a:ext>
            </a:extLst>
          </p:cNvPr>
          <p:cNvSpPr>
            <a:spLocks noGrp="1"/>
          </p:cNvSpPr>
          <p:nvPr/>
        </p:nvSpPr>
        <p:spPr>
          <a:xfrm>
            <a:off x="6591300" y="5257800"/>
            <a:ext cx="4286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Các phản hồi như “không ngọt”, “ít cơm”, “thêm rau” được dùng để cá nhân hóa lần sau.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A48E382A-808A-4DDD-9858-2E3C3FB48111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6/8</a:t>
            </a:r>
          </a:p>
        </p:txBody>
      </p:sp>
    </p:spTree>
    <p:extLst>
      <p:ext uri="{BB962C8B-B14F-4D97-AF65-F5344CB8AC3E}">
        <p14:creationId xmlns:p14="http://schemas.microsoft.com/office/powerpoint/2010/main" val="47335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E72092F-C8AA-4CBD-A591-39B9C2D3A7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B146A91-B566-4AD2-B437-7471B41B2C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E8FB9A3-144B-439E-B0EE-53FA523F0EF0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362AD46-CAD4-4917-A6E3-3980EC2AECCB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LUỒNG KIỂM THỬ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22E521C-36D3-4F5C-B211-B554492EAEBC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0287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Bốn ca test cho thấy prototype biết xử lý cả đúng, mơ hồ, sai và sửa.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E096589-8D82-4308-BC04-E758150B16D8}"/>
              </a:ext>
            </a:extLst>
          </p:cNvPr>
          <p:cNvSpPr>
            <a:spLocks noGrp="1"/>
          </p:cNvSpPr>
          <p:nvPr/>
        </p:nvSpPr>
        <p:spPr>
          <a:xfrm>
            <a:off x="590550" y="2552700"/>
            <a:ext cx="5219700" cy="1619250"/>
          </a:xfrm>
          <a:prstGeom prst="rect">
            <a:avLst/>
          </a:prstGeom>
          <a:solidFill>
            <a:srgbClr val="102847"/>
          </a:solidFill>
          <a:ln w="9525">
            <a:solidFill>
              <a:srgbClr val="00B1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9861E2D-61DD-4B9F-A236-F6472168C257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HAPPY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4F7337C-3B0A-40B2-9314-8D173DCA90D4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4591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4E8"/>
                </a:solidFill>
                <a:latin typeface="Aptos"/>
                <a:ea typeface="Aptos"/>
                <a:cs typeface="Aptos"/>
              </a:rPr>
              <a:t>“600 calo, nhiều đạm, ít dầu mỡ”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07A6998-B967-415E-82D8-6DC3A6ABCFAD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AI gợi ý món phù hợp ngay, có ảnh/quán/phân tích.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CDC6011-1AAB-4608-99A1-7BA12A562122}"/>
              </a:ext>
            </a:extLst>
          </p:cNvPr>
          <p:cNvSpPr>
            <a:spLocks noGrp="1"/>
          </p:cNvSpPr>
          <p:nvPr/>
        </p:nvSpPr>
        <p:spPr>
          <a:xfrm>
            <a:off x="6343650" y="2552700"/>
            <a:ext cx="5219700" cy="1619250"/>
          </a:xfrm>
          <a:prstGeom prst="rect">
            <a:avLst/>
          </a:prstGeom>
          <a:solidFill>
            <a:srgbClr val="102847"/>
          </a:solidFill>
          <a:ln w="9525">
            <a:solidFill>
              <a:srgbClr val="79A9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D0C7B1E-E4BF-42B3-AAF0-B834F7226B2D}"/>
              </a:ext>
            </a:extLst>
          </p:cNvPr>
          <p:cNvSpPr>
            <a:spLocks noGrp="1"/>
          </p:cNvSpPr>
          <p:nvPr/>
        </p:nvSpPr>
        <p:spPr>
          <a:xfrm>
            <a:off x="6572250" y="27432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LOW CONFIDENCE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3B1D333-DF32-46BA-9673-DB5E80B67424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4591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4E8"/>
                </a:solidFill>
                <a:latin typeface="Aptos"/>
                <a:ea typeface="Aptos"/>
                <a:cs typeface="Aptos"/>
              </a:rPr>
              <a:t>“Món nào no lâu nhưng chưa biết chọn gì”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59931BF-6886-4C8E-8981-02B6AF0A0208}"/>
              </a:ext>
            </a:extLst>
          </p:cNvPr>
          <p:cNvSpPr>
            <a:spLocks noGrp="1"/>
          </p:cNvSpPr>
          <p:nvPr/>
        </p:nvSpPr>
        <p:spPr>
          <a:xfrm>
            <a:off x="6572250" y="356235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AI hỏi lại hoặc giới hạn gợi ý vì tiêu chí còn mơ hồ.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A61204E-C6EA-4908-A813-D1830BDBC43B}"/>
              </a:ext>
            </a:extLst>
          </p:cNvPr>
          <p:cNvSpPr>
            <a:spLocks noGrp="1"/>
          </p:cNvSpPr>
          <p:nvPr/>
        </p:nvSpPr>
        <p:spPr>
          <a:xfrm>
            <a:off x="590550" y="4667250"/>
            <a:ext cx="5219700" cy="1619250"/>
          </a:xfrm>
          <a:prstGeom prst="rect">
            <a:avLst/>
          </a:prstGeom>
          <a:solidFill>
            <a:srgbClr val="102847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7B2E578-4368-4567-B178-7806C6CB3477}"/>
              </a:ext>
            </a:extLst>
          </p:cNvPr>
          <p:cNvSpPr>
            <a:spLocks noGrp="1"/>
          </p:cNvSpPr>
          <p:nvPr/>
        </p:nvSpPr>
        <p:spPr>
          <a:xfrm>
            <a:off x="819150" y="4857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FAILURE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22826CF2-7074-49BC-A6EB-31F5AEFAEDB9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591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4E8"/>
                </a:solidFill>
                <a:latin typeface="Aptos"/>
                <a:ea typeface="Aptos"/>
                <a:cs typeface="Aptos"/>
              </a:rPr>
              <a:t>“Keto nghiêm ngặt, tránh sốt/đường ẩn”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0EBB5366-7EF1-46B6-9DA0-DB23C26BE91C}"/>
              </a:ext>
            </a:extLst>
          </p:cNvPr>
          <p:cNvSpPr>
            <a:spLocks noGrp="1"/>
          </p:cNvSpPr>
          <p:nvPr/>
        </p:nvSpPr>
        <p:spPr>
          <a:xfrm>
            <a:off x="819150" y="567690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AI phải hiện cảnh báo: sốt/topping có thể chứa đường hoặc bột ẩn.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AF264356-AB48-4FFD-B918-4968F8651794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5219700" cy="1619250"/>
          </a:xfrm>
          <a:prstGeom prst="rect">
            <a:avLst/>
          </a:prstGeom>
          <a:solidFill>
            <a:srgbClr val="102847"/>
          </a:solidFill>
          <a:ln w="9525">
            <a:solidFill>
              <a:srgbClr val="FFB84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7A490796-4561-4678-8E8A-68CB5EF86D55}"/>
              </a:ext>
            </a:extLst>
          </p:cNvPr>
          <p:cNvSpPr>
            <a:spLocks noGrp="1"/>
          </p:cNvSpPr>
          <p:nvPr/>
        </p:nvSpPr>
        <p:spPr>
          <a:xfrm>
            <a:off x="6572250" y="48577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CORRECTION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FEA9947-3646-499D-8B95-926EEC4E0AB7}"/>
              </a:ext>
            </a:extLst>
          </p:cNvPr>
          <p:cNvSpPr>
            <a:spLocks noGrp="1"/>
          </p:cNvSpPr>
          <p:nvPr/>
        </p:nvSpPr>
        <p:spPr>
          <a:xfrm>
            <a:off x="6572250" y="5219700"/>
            <a:ext cx="4591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4E8"/>
                </a:solidFill>
                <a:latin typeface="Aptos"/>
                <a:ea typeface="Aptos"/>
                <a:cs typeface="Aptos"/>
              </a:rPr>
              <a:t>“Bớt cơm, thêm rau, dưới 500 calo”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31C8790-2463-4E1E-B356-5029DF75D014}"/>
              </a:ext>
            </a:extLst>
          </p:cNvPr>
          <p:cNvSpPr>
            <a:spLocks noGrp="1"/>
          </p:cNvSpPr>
          <p:nvPr/>
        </p:nvSpPr>
        <p:spPr>
          <a:xfrm>
            <a:off x="6572250" y="567690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9C2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2D0"/>
                </a:solidFill>
                <a:latin typeface="Aptos"/>
                <a:ea typeface="Aptos"/>
                <a:cs typeface="Aptos"/>
              </a:rPr>
              <a:t>AI cập nhật gợi ý theo chỉnh sửa và không giữ món mâu thuẫn.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EB3B420E-1A02-4A2E-A484-51DA4C0C6103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7/8</a:t>
            </a:r>
          </a:p>
        </p:txBody>
      </p:sp>
    </p:spTree>
    <p:extLst>
      <p:ext uri="{BB962C8B-B14F-4D97-AF65-F5344CB8AC3E}">
        <p14:creationId xmlns:p14="http://schemas.microsoft.com/office/powerpoint/2010/main" val="74346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71161406-87F5-4AB9-AD58-8D5534087D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F21A171-F5D8-475B-9DE0-4D2B777D6E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D20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7AE7D5E-9BA7-4DA2-9A89-AE68E3A51DC1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12192000" cy="28575"/>
          </a:xfrm>
          <a:prstGeom prst="rect">
            <a:avLst/>
          </a:prstGeom>
          <a:solidFill>
            <a:srgbClr val="00B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178CF7E-C4DB-4DF1-91A7-3FF032D67AF8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TRIỂN KHAI VÀ TRÌNH BÀY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6C2CF74-024A-4196-A797-688E5E494743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10287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4E8"/>
                </a:solidFill>
                <a:latin typeface="Aptos Display"/>
                <a:ea typeface="Aptos Display"/>
                <a:cs typeface="Aptos Display"/>
              </a:rPr>
              <a:t>AI đã nằm trong flow thật: người xem có thể test trực tiếp qua cùng WiFi.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FFDAFC3-72FE-4216-8591-7F99D649E67E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2038350" cy="971550"/>
          </a:xfrm>
          <a:prstGeom prst="rect">
            <a:avLst/>
          </a:prstGeom>
          <a:solidFill>
            <a:srgbClr val="102847"/>
          </a:solidFill>
          <a:ln w="9525">
            <a:solidFill>
              <a:srgbClr val="00B1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56BD499-E3C9-484E-9D52-0FF2EC429421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9A7A77B-7A2D-4512-8040-415330E47BE7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index.html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5082C29-7D94-495C-84EB-5670238E51E1}"/>
              </a:ext>
            </a:extLst>
          </p:cNvPr>
          <p:cNvSpPr>
            <a:spLocks noGrp="1"/>
          </p:cNvSpPr>
          <p:nvPr/>
        </p:nvSpPr>
        <p:spPr>
          <a:xfrm>
            <a:off x="3238500" y="2895600"/>
            <a:ext cx="2038350" cy="971550"/>
          </a:xfrm>
          <a:prstGeom prst="rect">
            <a:avLst/>
          </a:prstGeom>
          <a:solidFill>
            <a:srgbClr val="102847"/>
          </a:solidFill>
          <a:ln w="9525">
            <a:solidFill>
              <a:srgbClr val="79A9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72F6313-720D-4C91-8581-BB5FFF987AAB}"/>
              </a:ext>
            </a:extLst>
          </p:cNvPr>
          <p:cNvSpPr>
            <a:spLocks noGrp="1"/>
          </p:cNvSpPr>
          <p:nvPr/>
        </p:nvSpPr>
        <p:spPr>
          <a:xfrm>
            <a:off x="3409950" y="30861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BACKEND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437438A8-6068-4BE6-A8BB-C4A404DAEF80}"/>
              </a:ext>
            </a:extLst>
          </p:cNvPr>
          <p:cNvSpPr>
            <a:spLocks noGrp="1"/>
          </p:cNvSpPr>
          <p:nvPr/>
        </p:nvSpPr>
        <p:spPr>
          <a:xfrm>
            <a:off x="3409950" y="34099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FastAPI /api/chat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1FACEED-4DE1-4786-BCB5-454A3F49AB82}"/>
              </a:ext>
            </a:extLst>
          </p:cNvPr>
          <p:cNvSpPr>
            <a:spLocks noGrp="1"/>
          </p:cNvSpPr>
          <p:nvPr/>
        </p:nvSpPr>
        <p:spPr>
          <a:xfrm>
            <a:off x="5810250" y="2895600"/>
            <a:ext cx="2038350" cy="971550"/>
          </a:xfrm>
          <a:prstGeom prst="rect">
            <a:avLst/>
          </a:prstGeom>
          <a:solidFill>
            <a:srgbClr val="102847"/>
          </a:solidFill>
          <a:ln w="9525">
            <a:solidFill>
              <a:srgbClr val="FFB84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683FB32B-3FA4-40DA-8C47-B9358C3EE280}"/>
              </a:ext>
            </a:extLst>
          </p:cNvPr>
          <p:cNvSpPr>
            <a:spLocks noGrp="1"/>
          </p:cNvSpPr>
          <p:nvPr/>
        </p:nvSpPr>
        <p:spPr>
          <a:xfrm>
            <a:off x="5981700" y="30861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5C8AB64-F034-4420-A037-76819DC55518}"/>
              </a:ext>
            </a:extLst>
          </p:cNvPr>
          <p:cNvSpPr>
            <a:spLocks noGrp="1"/>
          </p:cNvSpPr>
          <p:nvPr/>
        </p:nvSpPr>
        <p:spPr>
          <a:xfrm>
            <a:off x="5981700" y="34099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all_stores.json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3B39933-AED4-4ABA-9646-3526AD6C98A5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2038350" cy="971550"/>
          </a:xfrm>
          <a:prstGeom prst="rect">
            <a:avLst/>
          </a:prstGeom>
          <a:solidFill>
            <a:srgbClr val="102847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EA588D44-2705-42A8-B2AA-459EAC888051}"/>
              </a:ext>
            </a:extLst>
          </p:cNvPr>
          <p:cNvSpPr>
            <a:spLocks noGrp="1"/>
          </p:cNvSpPr>
          <p:nvPr/>
        </p:nvSpPr>
        <p:spPr>
          <a:xfrm>
            <a:off x="8553450" y="30861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LLM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B592DB2-7A62-4ABD-B72D-D9C985587494}"/>
              </a:ext>
            </a:extLst>
          </p:cNvPr>
          <p:cNvSpPr>
            <a:spLocks noGrp="1"/>
          </p:cNvSpPr>
          <p:nvPr/>
        </p:nvSpPr>
        <p:spPr>
          <a:xfrm>
            <a:off x="8553450" y="34099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OpenAI SDK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A2F6761-D1CF-4D60-BB2B-0DCB849C0F03}"/>
              </a:ext>
            </a:extLst>
          </p:cNvPr>
          <p:cNvSpPr>
            <a:spLocks noGrp="1"/>
          </p:cNvSpPr>
          <p:nvPr/>
        </p:nvSpPr>
        <p:spPr>
          <a:xfrm>
            <a:off x="2800350" y="3371850"/>
            <a:ext cx="361950" cy="28575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AAE37447-79E6-4C0C-8380-59D84C1723C7}"/>
              </a:ext>
            </a:extLst>
          </p:cNvPr>
          <p:cNvSpPr>
            <a:spLocks noGrp="1"/>
          </p:cNvSpPr>
          <p:nvPr/>
        </p:nvSpPr>
        <p:spPr>
          <a:xfrm>
            <a:off x="5372100" y="3371850"/>
            <a:ext cx="361950" cy="28575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B37D1596-F58E-4801-B788-DD53EFEBC6E3}"/>
              </a:ext>
            </a:extLst>
          </p:cNvPr>
          <p:cNvSpPr>
            <a:spLocks noGrp="1"/>
          </p:cNvSpPr>
          <p:nvPr/>
        </p:nvSpPr>
        <p:spPr>
          <a:xfrm>
            <a:off x="7943850" y="3371850"/>
            <a:ext cx="361950" cy="28575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5C7E30F-6226-4F04-B01E-EC0AE55F6CAC}"/>
              </a:ext>
            </a:extLst>
          </p:cNvPr>
          <p:cNvSpPr>
            <a:spLocks noGrp="1"/>
          </p:cNvSpPr>
          <p:nvPr/>
        </p:nvSpPr>
        <p:spPr>
          <a:xfrm>
            <a:off x="704850" y="4495800"/>
            <a:ext cx="4905375" cy="1104900"/>
          </a:xfrm>
          <a:prstGeom prst="rect">
            <a:avLst/>
          </a:prstGeom>
          <a:solidFill>
            <a:srgbClr val="123353"/>
          </a:solidFill>
          <a:ln w="9525">
            <a:solidFill>
              <a:srgbClr val="00B1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EF8DF9BC-ADC6-4D04-8B83-6147AAB079C6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0B14F"/>
                </a:solidFill>
                <a:latin typeface="Aptos Mono"/>
                <a:ea typeface="Aptos Mono"/>
                <a:cs typeface="Aptos Mono"/>
              </a:rPr>
              <a:t>CÁCH CHẠY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5DB561E2-57B8-4829-9B63-BBA1889AE3F8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4095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cd D:\AI20k\lab6\Day06-E403-NhomA2\codebase</a:t>
            </a:r>
          </a:p>
          <a:p>
            <a:pPr algn="l">
              <a:defRPr sz="112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.\.venv\Scripts\Activate.ps1</a:t>
            </a:r>
          </a:p>
          <a:p>
            <a:pPr algn="l">
              <a:defRPr sz="1125" b="0">
                <a:solidFill>
                  <a:srgbClr val="B9C2D0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B9C2D0"/>
                </a:solidFill>
                <a:latin typeface="Aptos Mono"/>
                <a:ea typeface="Aptos Mono"/>
                <a:cs typeface="Aptos Mono"/>
              </a:rPr>
              <a:t>python .\src\app.py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EB335BC4-ED7F-4642-ADC3-7CBADDBDB5AE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762500" cy="1104900"/>
          </a:xfrm>
          <a:prstGeom prst="rect">
            <a:avLst/>
          </a:prstGeom>
          <a:solidFill>
            <a:srgbClr val="123353"/>
          </a:solidFill>
          <a:ln w="9525">
            <a:solidFill>
              <a:srgbClr val="79A9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5DDEB80F-2E40-44E6-A917-F575C8411113}"/>
              </a:ext>
            </a:extLst>
          </p:cNvPr>
          <p:cNvSpPr>
            <a:spLocks noGrp="1"/>
          </p:cNvSpPr>
          <p:nvPr/>
        </p:nvSpPr>
        <p:spPr>
          <a:xfrm>
            <a:off x="6419850" y="47625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9A9FF"/>
                </a:solidFill>
                <a:latin typeface="Aptos Mono"/>
                <a:ea typeface="Aptos Mono"/>
                <a:cs typeface="Aptos Mono"/>
              </a:rPr>
              <a:t>KỊCH BẢN NÓI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361E4881-E29C-41B6-A2D2-F092B8380F32}"/>
              </a:ext>
            </a:extLst>
          </p:cNvPr>
          <p:cNvSpPr>
            <a:spLocks noGrp="1"/>
          </p:cNvSpPr>
          <p:nvPr/>
        </p:nvSpPr>
        <p:spPr>
          <a:xfrm>
            <a:off x="6457950" y="51244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5FC368E8-2D50-4207-ACC2-E2236D24E004}"/>
              </a:ext>
            </a:extLst>
          </p:cNvPr>
          <p:cNvSpPr>
            <a:spLocks noGrp="1"/>
          </p:cNvSpPr>
          <p:nvPr/>
        </p:nvSpPr>
        <p:spPr>
          <a:xfrm>
            <a:off x="6629400" y="50482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User và painpoint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5D154BEB-0256-44AE-9256-81D22810A030}"/>
              </a:ext>
            </a:extLst>
          </p:cNvPr>
          <p:cNvSpPr>
            <a:spLocks noGrp="1"/>
          </p:cNvSpPr>
          <p:nvPr/>
        </p:nvSpPr>
        <p:spPr>
          <a:xfrm>
            <a:off x="6457950" y="53530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DACE3FF4-C201-41DD-94DA-A1DED88DD56B}"/>
              </a:ext>
            </a:extLst>
          </p:cNvPr>
          <p:cNvSpPr>
            <a:spLocks noGrp="1"/>
          </p:cNvSpPr>
          <p:nvPr/>
        </p:nvSpPr>
        <p:spPr>
          <a:xfrm>
            <a:off x="6629400" y="52768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Giải pháp AI trong GrabFood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F87168C8-931B-4EB3-85D5-ADCB8FBEC294}"/>
              </a:ext>
            </a:extLst>
          </p:cNvPr>
          <p:cNvSpPr>
            <a:spLocks noGrp="1"/>
          </p:cNvSpPr>
          <p:nvPr/>
        </p:nvSpPr>
        <p:spPr>
          <a:xfrm>
            <a:off x="6457950" y="55816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CEBEB7C8-B7E4-4112-8789-E62091E5D86A}"/>
              </a:ext>
            </a:extLst>
          </p:cNvPr>
          <p:cNvSpPr>
            <a:spLocks noGrp="1"/>
          </p:cNvSpPr>
          <p:nvPr/>
        </p:nvSpPr>
        <p:spPr>
          <a:xfrm>
            <a:off x="6629400" y="55054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Live demo 4 flow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5986876C-1263-41FB-9D85-94A94530F82D}"/>
              </a:ext>
            </a:extLst>
          </p:cNvPr>
          <p:cNvSpPr>
            <a:spLocks noGrp="1"/>
          </p:cNvSpPr>
          <p:nvPr/>
        </p:nvSpPr>
        <p:spPr>
          <a:xfrm>
            <a:off x="6457950" y="5810250"/>
            <a:ext cx="76200" cy="76200"/>
          </a:xfrm>
          <a:prstGeom prst="rect">
            <a:avLst/>
          </a:prstGeom>
          <a:solidFill>
            <a:srgbClr val="79A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76B4F4AB-9738-4450-802B-5DADD7E4B4F4}"/>
              </a:ext>
            </a:extLst>
          </p:cNvPr>
          <p:cNvSpPr>
            <a:spLocks noGrp="1"/>
          </p:cNvSpPr>
          <p:nvPr/>
        </p:nvSpPr>
        <p:spPr>
          <a:xfrm>
            <a:off x="6629400" y="57340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8F4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4E8"/>
                </a:solidFill>
                <a:latin typeface="Aptos"/>
                <a:ea typeface="Aptos"/>
                <a:cs typeface="Aptos"/>
              </a:rPr>
              <a:t>Kết luận: AI hỗ trợ ra quyết định, user vẫn kiểm soát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78219640-30C4-4A5A-8556-358E82652B13}"/>
              </a:ext>
            </a:extLst>
          </p:cNvPr>
          <p:cNvSpPr>
            <a:spLocks noGrp="1"/>
          </p:cNvSpPr>
          <p:nvPr/>
        </p:nvSpPr>
        <p:spPr>
          <a:xfrm>
            <a:off x="933450" y="59245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B1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B14F"/>
                </a:solidFill>
                <a:latin typeface="Aptos"/>
                <a:ea typeface="Aptos"/>
                <a:cs typeface="Aptos"/>
              </a:rPr>
              <a:t>URL demo: http://localhost:8000 · hoặc http://&lt;IP-WiFi&gt;:8000 khi cùng mạng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A1DE19B0-DA46-41D5-85D4-A666F340B19B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514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890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D"/>
                </a:solidFill>
                <a:latin typeface="Aptos"/>
                <a:ea typeface="Aptos"/>
                <a:cs typeface="Aptos"/>
              </a:rPr>
              <a:t>Day06-E403-NhomA2 · GrabFood AI Balanced Diet · 8/8</a:t>
            </a:r>
          </a:p>
        </p:txBody>
      </p:sp>
    </p:spTree>
    <p:extLst>
      <p:ext uri="{BB962C8B-B14F-4D97-AF65-F5344CB8AC3E}">
        <p14:creationId xmlns:p14="http://schemas.microsoft.com/office/powerpoint/2010/main" val="13179312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Microsoft Office PowerPoint</Application>
  <DocSecurity>0</DocSecurity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account</cp:lastModifiedBy>
  <cp:revision>1</cp:revision>
  <dcterms:created xsi:type="dcterms:W3CDTF">2026-06-04T09:14:41Z</dcterms:created>
  <dcterms:modified xsi:type="dcterms:W3CDTF">2026-06-04T09:16:00Z</dcterms:modified>
</cp:coreProperties>
</file>